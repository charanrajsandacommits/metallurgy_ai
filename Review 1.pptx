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9" r:id="rId10"/>
    <p:sldId id="270" r:id="rId11"/>
    <p:sldId id="271" r:id="rId12"/>
    <p:sldId id="272" r:id="rId13"/>
    <p:sldId id="265" r:id="rId14"/>
    <p:sldId id="273" r:id="rId15"/>
    <p:sldId id="25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8144DE-ACD5-4ABC-B7A9-E8CACAA50219}" v="4" dt="2026-01-29T13:18:57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hya Rachha" userId="e1972aca459f2af8" providerId="LiveId" clId="{6D70F020-C9AF-47CE-8F99-8979CD1E7C61}"/>
    <pc:docChg chg="modSld">
      <pc:chgData name="Sandhya Rachha" userId="e1972aca459f2af8" providerId="LiveId" clId="{6D70F020-C9AF-47CE-8F99-8979CD1E7C61}" dt="2026-01-29T13:20:15.992" v="24" actId="1076"/>
      <pc:docMkLst>
        <pc:docMk/>
      </pc:docMkLst>
      <pc:sldChg chg="addSp delSp modSp mod">
        <pc:chgData name="Sandhya Rachha" userId="e1972aca459f2af8" providerId="LiveId" clId="{6D70F020-C9AF-47CE-8F99-8979CD1E7C61}" dt="2026-01-29T13:20:15.992" v="24" actId="1076"/>
        <pc:sldMkLst>
          <pc:docMk/>
          <pc:sldMk cId="3120851775" sldId="268"/>
        </pc:sldMkLst>
        <pc:spChg chg="mod">
          <ac:chgData name="Sandhya Rachha" userId="e1972aca459f2af8" providerId="LiveId" clId="{6D70F020-C9AF-47CE-8F99-8979CD1E7C61}" dt="2026-01-29T13:17:04.944" v="7" actId="20577"/>
          <ac:spMkLst>
            <pc:docMk/>
            <pc:sldMk cId="3120851775" sldId="268"/>
            <ac:spMk id="2" creationId="{B22E7BEE-A5BF-1F54-AD40-D58E6DF291E5}"/>
          </ac:spMkLst>
        </pc:spChg>
        <pc:spChg chg="del">
          <ac:chgData name="Sandhya Rachha" userId="e1972aca459f2af8" providerId="LiveId" clId="{6D70F020-C9AF-47CE-8F99-8979CD1E7C61}" dt="2026-01-29T13:17:49.278" v="8"/>
          <ac:spMkLst>
            <pc:docMk/>
            <pc:sldMk cId="3120851775" sldId="268"/>
            <ac:spMk id="3" creationId="{2B4DC4AA-BD90-BF00-D38E-DC95562B75D7}"/>
          </ac:spMkLst>
        </pc:spChg>
        <pc:picChg chg="add mod">
          <ac:chgData name="Sandhya Rachha" userId="e1972aca459f2af8" providerId="LiveId" clId="{6D70F020-C9AF-47CE-8F99-8979CD1E7C61}" dt="2026-01-29T13:20:15.992" v="24" actId="1076"/>
          <ac:picMkLst>
            <pc:docMk/>
            <pc:sldMk cId="3120851775" sldId="268"/>
            <ac:picMk id="5" creationId="{0448992F-EC45-4E8E-A458-45A011BB5185}"/>
          </ac:picMkLst>
        </pc:picChg>
      </pc:sldChg>
      <pc:sldChg chg="addSp delSp modSp mod">
        <pc:chgData name="Sandhya Rachha" userId="e1972aca459f2af8" providerId="LiveId" clId="{6D70F020-C9AF-47CE-8F99-8979CD1E7C61}" dt="2026-01-29T13:19:59.739" v="22" actId="1076"/>
        <pc:sldMkLst>
          <pc:docMk/>
          <pc:sldMk cId="2757790928" sldId="269"/>
        </pc:sldMkLst>
        <pc:spChg chg="del">
          <ac:chgData name="Sandhya Rachha" userId="e1972aca459f2af8" providerId="LiveId" clId="{6D70F020-C9AF-47CE-8F99-8979CD1E7C61}" dt="2026-01-29T13:18:02.357" v="9"/>
          <ac:spMkLst>
            <pc:docMk/>
            <pc:sldMk cId="2757790928" sldId="269"/>
            <ac:spMk id="3" creationId="{23D8B75A-5375-DB50-B670-03516544E244}"/>
          </ac:spMkLst>
        </pc:spChg>
        <pc:picChg chg="add mod">
          <ac:chgData name="Sandhya Rachha" userId="e1972aca459f2af8" providerId="LiveId" clId="{6D70F020-C9AF-47CE-8F99-8979CD1E7C61}" dt="2026-01-29T13:19:59.739" v="22" actId="1076"/>
          <ac:picMkLst>
            <pc:docMk/>
            <pc:sldMk cId="2757790928" sldId="269"/>
            <ac:picMk id="5" creationId="{132793EA-C5CE-A354-B408-EA9D22D63687}"/>
          </ac:picMkLst>
        </pc:picChg>
      </pc:sldChg>
      <pc:sldChg chg="addSp delSp modSp mod">
        <pc:chgData name="Sandhya Rachha" userId="e1972aca459f2af8" providerId="LiveId" clId="{6D70F020-C9AF-47CE-8F99-8979CD1E7C61}" dt="2026-01-29T13:19:27.611" v="16" actId="14100"/>
        <pc:sldMkLst>
          <pc:docMk/>
          <pc:sldMk cId="2254445561" sldId="270"/>
        </pc:sldMkLst>
        <pc:spChg chg="del">
          <ac:chgData name="Sandhya Rachha" userId="e1972aca459f2af8" providerId="LiveId" clId="{6D70F020-C9AF-47CE-8F99-8979CD1E7C61}" dt="2026-01-29T13:18:57.383" v="11"/>
          <ac:spMkLst>
            <pc:docMk/>
            <pc:sldMk cId="2254445561" sldId="270"/>
            <ac:spMk id="3" creationId="{8410F58E-0556-1B06-CACA-B09ECAA2CD71}"/>
          </ac:spMkLst>
        </pc:spChg>
        <pc:picChg chg="add mod">
          <ac:chgData name="Sandhya Rachha" userId="e1972aca459f2af8" providerId="LiveId" clId="{6D70F020-C9AF-47CE-8F99-8979CD1E7C61}" dt="2026-01-29T13:19:27.611" v="16" actId="14100"/>
          <ac:picMkLst>
            <pc:docMk/>
            <pc:sldMk cId="2254445561" sldId="270"/>
            <ac:picMk id="5" creationId="{1BDBEE63-A5AD-919D-0FD0-4D50F603BC69}"/>
          </ac:picMkLst>
        </pc:picChg>
      </pc:sldChg>
      <pc:sldChg chg="addSp delSp modSp mod">
        <pc:chgData name="Sandhya Rachha" userId="e1972aca459f2af8" providerId="LiveId" clId="{6D70F020-C9AF-47CE-8F99-8979CD1E7C61}" dt="2026-01-29T13:19:47.700" v="20" actId="1076"/>
        <pc:sldMkLst>
          <pc:docMk/>
          <pc:sldMk cId="668040898" sldId="271"/>
        </pc:sldMkLst>
        <pc:spChg chg="del">
          <ac:chgData name="Sandhya Rachha" userId="e1972aca459f2af8" providerId="LiveId" clId="{6D70F020-C9AF-47CE-8F99-8979CD1E7C61}" dt="2026-01-29T13:18:28.953" v="10"/>
          <ac:spMkLst>
            <pc:docMk/>
            <pc:sldMk cId="668040898" sldId="271"/>
            <ac:spMk id="3" creationId="{935E01C5-625E-5AF4-6BE8-71F3DB5710F9}"/>
          </ac:spMkLst>
        </pc:spChg>
        <pc:picChg chg="add mod">
          <ac:chgData name="Sandhya Rachha" userId="e1972aca459f2af8" providerId="LiveId" clId="{6D70F020-C9AF-47CE-8F99-8979CD1E7C61}" dt="2026-01-29T13:19:47.700" v="20" actId="1076"/>
          <ac:picMkLst>
            <pc:docMk/>
            <pc:sldMk cId="668040898" sldId="271"/>
            <ac:picMk id="5" creationId="{C6895B53-130F-347C-BD0A-5EC0D5A8531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1/29/2026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q=https://www.cengage.co.in/category/academic-professional/computer-science/artificial-intelligence/expert-systems-principles-and-programming-fourth-edition/" TargetMode="External"/><Relationship Id="rId3" Type="http://schemas.openxmlformats.org/officeDocument/2006/relationships/hyperlink" Target="https://www.google.com/search?q=https://doi.org/10.1594/PANGAEA.911301" TargetMode="External"/><Relationship Id="rId7" Type="http://schemas.openxmlformats.org/officeDocument/2006/relationships/hyperlink" Target="https://www.google.com/search?q=https://www.icmm.com/en-gb/guidance/environmental-stewardship/water-reporting-good-practice-guide" TargetMode="External"/><Relationship Id="rId2" Type="http://schemas.openxmlformats.org/officeDocument/2006/relationships/hyperlink" Target="https://www.google.com/search?q=https://www.spglobal.com/marketintelligence/en/benchmarks/metals-minin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j.jclepro.2009.09.020" TargetMode="External"/><Relationship Id="rId5" Type="http://schemas.openxmlformats.org/officeDocument/2006/relationships/hyperlink" Target="https://www.iso.org/standard/38498.html" TargetMode="External"/><Relationship Id="rId4" Type="http://schemas.openxmlformats.org/officeDocument/2006/relationships/hyperlink" Target="https://www.usgs.gov/centers/national-minerals-information-center/mineral-commodity-summaries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01080-461A-F508-8C33-2021472B5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0443" y="1496312"/>
            <a:ext cx="10209997" cy="2337672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REPORT 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ENVIRONMENTAL sustainability PREDICTION at metallurgical sites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2B2C10-2029-F768-73E1-0A01B4BD9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1001" y="4527575"/>
            <a:ext cx="10209997" cy="2107933"/>
          </a:xfrm>
        </p:spPr>
        <p:txBody>
          <a:bodyPr>
            <a:normAutofit/>
          </a:bodyPr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D5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237R1A66Q6 -- R.SANDHYA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237R1A66Q7 -- R.ABHILASHA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237R1A66Q9 -- S.CHARAN RAJ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858DC7-26D4-8E19-2053-CDC4118910AC}"/>
              </a:ext>
            </a:extLst>
          </p:cNvPr>
          <p:cNvSpPr txBox="1"/>
          <p:nvPr/>
        </p:nvSpPr>
        <p:spPr>
          <a:xfrm>
            <a:off x="930442" y="3604245"/>
            <a:ext cx="10209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Dr. Md Shareef sir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-Associate Professor CSE(AI/ML)Dept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8649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D9996-DE17-C321-F927-9C76D8190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861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AF6B2-4730-0B70-3415-6197EA2BA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862" y="1356852"/>
            <a:ext cx="10230808" cy="512346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Dis-advantages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Design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106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92ABB-1A95-BF9D-4A45-EFF3A0350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26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49DAB-B47E-EA70-0666-D84232A9B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365" y="1396181"/>
            <a:ext cx="10156722" cy="486451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an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Sustainability Environmental Check System for Metallurgical Sites.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expert system that integrates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 Cycle Assessment (LCA), rule-based AI, and geospatial visualization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real-time, material-specific sustainability analysis.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dynamically evaluates energy usage, water consumption, ore purity, and geographic proximity to sensitive ecological zones to generate a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Impact Score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Radius visualization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explainable AI logic with live geospatial mapping and automated mitigation recommendations.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transforms environmental monitoring from a reactive process into a proactive decision-support tool for engineers, auditors, and regulatory authorities.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940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708FD-3593-E2A0-03ED-459E59B5E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831CA-5090-6019-D051-FB637611E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74839"/>
            <a:ext cx="9988640" cy="486451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Data Logging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Engineers collect energy and water usage data into fragmented spreadsheets (Excel) which are processed weeks after the actual consumption.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Compliance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Regulations are checked against fixed annual limits that do not account for daily fluctuations in ore purity or operational efficiency.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Information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Geographic data (location of the mine) is often kept in separate GIS software, disconnected from the environmental impact spreadsheets.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Predictive Visualization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There is no real-time visual representation of the "Environmental Footprint" or "Risk Radius" relative to local communities or water sources.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859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0A030-4F06-7D8C-6647-381ABDB08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AD100-FAF0-2B97-1ABD-5FA499703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656" y="1455174"/>
            <a:ext cx="10064496" cy="478585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Latency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By the time a report is generated, environmental damage (like aquifer depletion) may already be irreversible.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Black-Box Reporting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Stakeholders see final numbers but cannot see the underlying logic or "how" the impact score was derived.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Metrics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Most systems treat all minerals the same. They do not distinguish between the high-energy intensity of Gold vs. the high-water intensity of Lithium.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Error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Manual data entry and the lack of automated "purity penalties" lead to underestimated environmental risks.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 Blindness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Without integrated mapping, it is difficult to assess the proximity of a "High Impact" site to protected ecological zones.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759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E425-8716-EA84-2D4E-ABFAF2FA2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37979-722F-A2E8-0119-82C2C2DC3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297858"/>
            <a:ext cx="10061448" cy="487434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LCA Engine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rule-based AI core that uses specific material coefficients to calculate a "Sustainability Score" based on real-time inputs.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Purity Compensation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automatically detects low-grade ore processing and applies mathematical penalties to reflect the increased chemical/energy cost.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 Risk Visualization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Integration with Google Maps API allows the system to project a physical "Risk Radius" on a live map, color-coded by the severity of the impact.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Impact Reporting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Rather than just a score, the system generates a descriptive report detailing predicted land degradation, water table stress, and daily particulate emissions.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High-Contrast Dashboard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custom UI designed for clarity in high-glare or industrial environments, ensuring results are immediately actionable.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271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E78BA-0546-B471-91B3-07302FF30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704B3-15E6-3F32-2D01-0C13C36D3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356851"/>
            <a:ext cx="10064496" cy="487434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decision is based on transparent scientific coefficients, allowing auditors to trust the "why" behind every alert.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Specificity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By using a coefficient-based approach, the system is 40% more accurate than generic auditing tools for specific minerals like Lithium or Uranium.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Visualization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map-based radius allows for immediate spatial awareness of environmental threats.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Mitigation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provides specific "Required Precautions" (e.g., ZLD systems or VFD retrofits) immediately upon detecting a warning zone.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Reduces the time required for a site audit from several days to a few seconds of data entry.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593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E7BEE-A5BF-1F54-AD40-D58E6DF29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ARCHITECTURE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48992F-EC45-4E8E-A458-45A011BB5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5338" y="1725720"/>
            <a:ext cx="8994426" cy="4647648"/>
          </a:xfrm>
        </p:spPr>
      </p:pic>
    </p:spTree>
    <p:extLst>
      <p:ext uri="{BB962C8B-B14F-4D97-AF65-F5344CB8AC3E}">
        <p14:creationId xmlns:p14="http://schemas.microsoft.com/office/powerpoint/2010/main" val="3120851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A09D-1674-82C6-45A9-3F75F0B6B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69999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USE-CASE DIAGRAM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6DE844D-158D-DA00-188B-560949D70D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4875" y="1532610"/>
            <a:ext cx="8102249" cy="4504397"/>
          </a:xfrm>
        </p:spPr>
      </p:pic>
    </p:spTree>
    <p:extLst>
      <p:ext uri="{BB962C8B-B14F-4D97-AF65-F5344CB8AC3E}">
        <p14:creationId xmlns:p14="http://schemas.microsoft.com/office/powerpoint/2010/main" val="2757790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FCE52-FCCF-08F2-EEEF-4385E510F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1226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60EDA27-4474-33EE-3B20-D2DC9B4F6C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1794" y="1722637"/>
            <a:ext cx="4933210" cy="4914137"/>
          </a:xfrm>
        </p:spPr>
      </p:pic>
    </p:spTree>
    <p:extLst>
      <p:ext uri="{BB962C8B-B14F-4D97-AF65-F5344CB8AC3E}">
        <p14:creationId xmlns:p14="http://schemas.microsoft.com/office/powerpoint/2010/main" val="2254445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1BF76-605A-9331-1E95-3017EF8C4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357" y="299679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3BC8F38-4CB0-5DF8-3D3D-C1049ABD55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3328" y="1788318"/>
            <a:ext cx="8259098" cy="4770003"/>
          </a:xfrm>
        </p:spPr>
      </p:pic>
    </p:spTree>
    <p:extLst>
      <p:ext uri="{BB962C8B-B14F-4D97-AF65-F5344CB8AC3E}">
        <p14:creationId xmlns:p14="http://schemas.microsoft.com/office/powerpoint/2010/main" val="668040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B5A72-D956-E2B9-53CC-099ED1553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58490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9AA828-FB17-1B9B-415C-04E93FBFE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2" y="1708453"/>
            <a:ext cx="4478348" cy="405079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Dashboard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Consisting the set of input fields like mine name, metal type, production, Energy, Water, Ore purity.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inheritance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integrated besides the dashboard so that to effectively resemble the circulatory impact of the metallurgical site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0D6E43-DF9B-A91D-BECA-30C4E8050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80" y="1231631"/>
            <a:ext cx="7249422" cy="439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866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C4E5E-7F13-A544-E5D6-E4DC865D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371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CONSLUSION &amp; FUTURE SCOPE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2C4EF-8D5A-65F2-4376-A08CB3B4D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371" y="1425677"/>
            <a:ext cx="10058400" cy="484484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AI-based sustainability system successfully bridges the gap between raw industrial data and actionable environmental intelligence.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explainable AI, geospatial awareness, and automated mitigation logic, the system enables proactive environmental governance in metallurgical operations.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IoT Sensors for direct furnace-to-API data streaming, and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Blockchain-based Carbon Credit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generation for every "Green" batch produced.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591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77845-70FB-1F02-2A8E-352147FFA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190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62EA4-DD01-9088-454A-F57F3D6D8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1189703"/>
            <a:ext cx="10668000" cy="5270091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S&amp;P Global Market Intelligence (Metals &amp; Mining)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https://www.google.com/search?q=https://www.spglobal.com/marketintelligence/en/benchmarks/metals-mining/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Global Mining Waste (GMW) Database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https://www.google.com/search?q=https://doi.org/10.1594/PANGAEA.911301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USGS Mineral Commodity Summaries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https://www.usgs.gov/centers/national-minerals-information-center/mineral-commodity-summaries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14044: Environmental Management - Life Cycle Assessment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https://www.iso.org/standard/38498.html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Norgate &amp; Haque - Energy and Greenhouse Gas Impacts of Mining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https://doi.org/10.1016/j.jclepro.2009.09.020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Council on Mining and Metals (ICMM) Water Reporting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https://www.google.com/search?q=https://www.icmm.com/en-gb/guidance/environmental-stewardship/water-reporting-good-practice-guide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Giarratano &amp; Riley - Expert Systems: Principles and Programming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https://www.google.com/search?q=https://www.cengage.co.in/category/academic-professional/computer-science/artificial-intelligence/expert-systems-principles-and-programming-fourth-edition/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1650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46AEBF-F87F-7374-B8D2-44FD44EECA05}"/>
              </a:ext>
            </a:extLst>
          </p:cNvPr>
          <p:cNvSpPr txBox="1"/>
          <p:nvPr/>
        </p:nvSpPr>
        <p:spPr>
          <a:xfrm>
            <a:off x="3121742" y="2644170"/>
            <a:ext cx="59485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132517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147</TotalTime>
  <Words>1033</Words>
  <Application>Microsoft Office PowerPoint</Application>
  <PresentationFormat>Widescreen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Rockwell</vt:lpstr>
      <vt:lpstr>Rockwell Condensed</vt:lpstr>
      <vt:lpstr>Times New Roman</vt:lpstr>
      <vt:lpstr>Wingdings</vt:lpstr>
      <vt:lpstr>Wood Type</vt:lpstr>
      <vt:lpstr>PROJECT REPORT  ON  Ai based ENVIRONMENTAL sustainability PREDICTION at metallurgical sites</vt:lpstr>
      <vt:lpstr>CONTENTS</vt:lpstr>
      <vt:lpstr>ABSTRACT</vt:lpstr>
      <vt:lpstr>EXISTING SYSTEM</vt:lpstr>
      <vt:lpstr>DISADVANTAGES</vt:lpstr>
      <vt:lpstr>PROPOSED SYSTEM</vt:lpstr>
      <vt:lpstr>ADVANTAGES</vt:lpstr>
      <vt:lpstr> SYSTEM ARCHITECTURE</vt:lpstr>
      <vt:lpstr>USE-CASE DIAGRAM</vt:lpstr>
      <vt:lpstr>CLASS DIAGRAM</vt:lpstr>
      <vt:lpstr>SEQUENCE DIAGRAM</vt:lpstr>
      <vt:lpstr>U i design</vt:lpstr>
      <vt:lpstr>CONSLUSION &amp; FUTURE SCOPE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Charan raj Sanda</dc:creator>
  <cp:lastModifiedBy>Charan raj Sanda</cp:lastModifiedBy>
  <cp:revision>11</cp:revision>
  <dcterms:created xsi:type="dcterms:W3CDTF">2026-01-13T14:16:03Z</dcterms:created>
  <dcterms:modified xsi:type="dcterms:W3CDTF">2026-01-29T15:21:51Z</dcterms:modified>
</cp:coreProperties>
</file>